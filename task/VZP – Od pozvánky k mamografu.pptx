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sldIdLst>
    <p:sldId id="263" r:id="rId5"/>
    <p:sldId id="278" r:id="rId6"/>
    <p:sldId id="271" r:id="rId7"/>
    <p:sldId id="282" r:id="rId8"/>
    <p:sldId id="264" r:id="rId9"/>
    <p:sldId id="265" r:id="rId10"/>
    <p:sldId id="272" r:id="rId11"/>
    <p:sldId id="273" r:id="rId12"/>
    <p:sldId id="275" r:id="rId13"/>
    <p:sldId id="274" r:id="rId14"/>
    <p:sldId id="276" r:id="rId15"/>
    <p:sldId id="269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4A4D"/>
    <a:srgbClr val="D22D0F"/>
    <a:srgbClr val="A88D92"/>
    <a:srgbClr val="EDD8DB"/>
    <a:srgbClr val="E6CACF"/>
    <a:srgbClr val="5A7AA6"/>
    <a:srgbClr val="78A3DD"/>
    <a:srgbClr val="ADC9EB"/>
    <a:srgbClr val="B8DDC5"/>
    <a:srgbClr val="B47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7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Údaje jsou z roku 2024. Celkem oslovených klientek bylo v roce 2024 = 292 tisíc. Klientky, které byly osloveny poprvé =  bylo zasláno 55 tisíc pozvánek z celkového počtu a z toho šlo na vyšetření 44,5 % klientek. Upřesnění k 3,2% = jsou to klientky, které už dostávaly adresné zvaní už po 11. Celkem to bylo 59 tisíc klientek a z toho 3,2% šlo na preventivní screening. Vyzýváme celkem 59 tisíc lidí opakovaně, otázkou je, proč to nechtějí řešit ani po 11 zvaním.</a:t>
            </a:r>
          </a:p>
        </p:txBody>
      </p:sp>
    </p:spTree>
    <p:extLst>
      <p:ext uri="{BB962C8B-B14F-4D97-AF65-F5344CB8AC3E}">
        <p14:creationId xmlns:p14="http://schemas.microsoft.com/office/powerpoint/2010/main" val="94981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F4F8CC-479B-4B7A-876C-BF97BD9F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>
            <a:normAutofit/>
          </a:bodyPr>
          <a:lstStyle>
            <a:lvl1pPr>
              <a:defRPr sz="10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55684DE-5848-4063-9EC0-DFB6BF040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6"/>
            <a:ext cx="21031200" cy="1527868"/>
          </a:xfrm>
        </p:spPr>
        <p:txBody>
          <a:bodyPr>
            <a:normAutofit/>
          </a:bodyPr>
          <a:lstStyle>
            <a:lvl1pPr marL="0" indent="0">
              <a:buNone/>
              <a:defRPr sz="4600">
                <a:solidFill>
                  <a:srgbClr val="4A4A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ADCF286-82BA-4A4A-83AA-61734EC6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C2C7E1-D379-444F-B333-F4BDD11F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CC711BC-1305-4DAE-B58E-DFFDBC15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FB8-D681-42A5-B41E-171E85C65BB6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" descr="Obrázek">
            <a:extLst>
              <a:ext uri="{FF2B5EF4-FFF2-40B4-BE49-F238E27FC236}">
                <a16:creationId xmlns:a16="http://schemas.microsoft.com/office/drawing/2014/main" id="{6F56ABB9-72A2-4C8D-8BDA-8C4044A6D1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9671" y="1913705"/>
            <a:ext cx="1844348" cy="76948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Zástupný text 2">
            <a:extLst>
              <a:ext uri="{FF2B5EF4-FFF2-40B4-BE49-F238E27FC236}">
                <a16:creationId xmlns:a16="http://schemas.microsoft.com/office/drawing/2014/main" id="{0D9D9BD3-3DD6-47C7-9451-CC48D758646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63700" y="10796793"/>
            <a:ext cx="21031200" cy="1527868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4A4A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text 15">
            <a:extLst>
              <a:ext uri="{FF2B5EF4-FFF2-40B4-BE49-F238E27FC236}">
                <a16:creationId xmlns:a16="http://schemas.microsoft.com/office/drawing/2014/main" id="{5B9403C8-B026-2FD8-58E7-4D2C485A7A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>
            <a:noAutofit/>
          </a:bodyPr>
          <a:lstStyle>
            <a:lvl1pPr marL="50800" indent="0">
              <a:lnSpc>
                <a:spcPct val="100000"/>
              </a:lnSpc>
              <a:buFontTx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lnSpc>
                <a:spcPct val="100000"/>
              </a:lnSpc>
              <a:buFontTx/>
              <a:buNone/>
              <a:defRPr sz="1400" baseline="0"/>
            </a:lvl2pPr>
            <a:lvl3pPr marL="1219200" indent="0">
              <a:lnSpc>
                <a:spcPct val="100000"/>
              </a:lnSpc>
              <a:buFontTx/>
              <a:buNone/>
              <a:defRPr sz="1400" baseline="0"/>
            </a:lvl3pPr>
            <a:lvl4pPr marL="1828800" indent="0">
              <a:lnSpc>
                <a:spcPct val="100000"/>
              </a:lnSpc>
              <a:buFontTx/>
              <a:buNone/>
              <a:defRPr sz="1400" baseline="0"/>
            </a:lvl4pPr>
            <a:lvl5pPr marL="2438400" indent="0">
              <a:lnSpc>
                <a:spcPct val="100000"/>
              </a:lnSpc>
              <a:buFontTx/>
              <a:buNone/>
              <a:defRPr sz="1400" baseline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9912586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0DE10F-C618-4E88-B49A-03C981E1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E1AA809-FB89-4124-914C-EAD12F29F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D181E87-F5EC-4C5F-A6D1-01716BEF5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6501" y="2726286"/>
            <a:ext cx="21970999" cy="947679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text 15">
            <a:extLst>
              <a:ext uri="{FF2B5EF4-FFF2-40B4-BE49-F238E27FC236}">
                <a16:creationId xmlns:a16="http://schemas.microsoft.com/office/drawing/2014/main" id="{215B5DCB-A966-C305-2E36-31E35D8D6C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>
            <a:noAutofit/>
          </a:bodyPr>
          <a:lstStyle>
            <a:lvl1pPr marL="50800" indent="0">
              <a:lnSpc>
                <a:spcPct val="100000"/>
              </a:lnSpc>
              <a:buFontTx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lnSpc>
                <a:spcPct val="100000"/>
              </a:lnSpc>
              <a:buFontTx/>
              <a:buNone/>
              <a:defRPr sz="1400" baseline="0"/>
            </a:lvl2pPr>
            <a:lvl3pPr marL="1219200" indent="0">
              <a:lnSpc>
                <a:spcPct val="100000"/>
              </a:lnSpc>
              <a:buFontTx/>
              <a:buNone/>
              <a:defRPr sz="1400" baseline="0"/>
            </a:lvl3pPr>
            <a:lvl4pPr marL="1828800" indent="0">
              <a:lnSpc>
                <a:spcPct val="100000"/>
              </a:lnSpc>
              <a:buFontTx/>
              <a:buNone/>
              <a:defRPr sz="1400" baseline="0"/>
            </a:lvl4pPr>
            <a:lvl5pPr marL="2438400" indent="0">
              <a:lnSpc>
                <a:spcPct val="100000"/>
              </a:lnSpc>
              <a:buFontTx/>
              <a:buNone/>
              <a:defRPr sz="1400" baseline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7212894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00ACBF-D632-4FAC-A9E6-6732826B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48F8D35-B720-45A5-97B1-915C1CA7A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16EBC61D-808D-474B-959F-5C6D65DAAE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98442" y="4431866"/>
            <a:ext cx="7231466" cy="4833465"/>
          </a:xfrm>
        </p:spPr>
        <p:txBody>
          <a:bodyPr anchor="t">
            <a:noAutofit/>
          </a:bodyPr>
          <a:lstStyle>
            <a:lvl1pPr marL="50800" indent="0">
              <a:buFont typeface="Arial" panose="020B0604020202020204" pitchFamily="34" charset="0"/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Font typeface="Arial" panose="020B0604020202020204" pitchFamily="34" charset="0"/>
              <a:buNone/>
              <a:defRPr sz="3200"/>
            </a:lvl2pPr>
            <a:lvl3pPr marL="1219200" indent="0">
              <a:buFont typeface="Arial" panose="020B0604020202020204" pitchFamily="34" charset="0"/>
              <a:buNone/>
              <a:defRPr sz="3200"/>
            </a:lvl3pPr>
            <a:lvl4pPr marL="1828800" indent="0">
              <a:buFont typeface="Arial" panose="020B0604020202020204" pitchFamily="34" charset="0"/>
              <a:buNone/>
              <a:defRPr sz="3200"/>
            </a:lvl4pPr>
            <a:lvl5pPr marL="2438400" indent="0">
              <a:buFont typeface="Arial" panose="020B0604020202020204" pitchFamily="34" charset="0"/>
              <a:buNone/>
              <a:defRPr sz="3200"/>
            </a:lvl5pPr>
          </a:lstStyle>
          <a:p>
            <a:pPr lvl="0"/>
            <a:r>
              <a:rPr lang="cs-CZ"/>
              <a:t>Máme silný a nezaměnitelný vizuální styl, který můžeme využít v sociálních médiích zaměřených na vizuální stránku. V sociálních médiích bychom měli se sdělením a vizuálem pracovat kreativně. </a:t>
            </a:r>
          </a:p>
        </p:txBody>
      </p:sp>
      <p:sp>
        <p:nvSpPr>
          <p:cNvPr id="14" name="Zástupný obsah 13">
            <a:extLst>
              <a:ext uri="{FF2B5EF4-FFF2-40B4-BE49-F238E27FC236}">
                <a16:creationId xmlns:a16="http://schemas.microsoft.com/office/drawing/2014/main" id="{03816CB7-02ED-4564-8007-E5482A089C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06500" y="4431866"/>
            <a:ext cx="5389529" cy="5170575"/>
          </a:xfrm>
        </p:spPr>
        <p:txBody>
          <a:bodyPr/>
          <a:lstStyle>
            <a:lvl1pPr marL="50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cs-CZ"/>
          </a:p>
        </p:txBody>
      </p:sp>
      <p:sp>
        <p:nvSpPr>
          <p:cNvPr id="15" name="Zástupný obsah 13">
            <a:extLst>
              <a:ext uri="{FF2B5EF4-FFF2-40B4-BE49-F238E27FC236}">
                <a16:creationId xmlns:a16="http://schemas.microsoft.com/office/drawing/2014/main" id="{527CE31A-FCB2-4348-A129-406F7666D1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02471" y="4431865"/>
            <a:ext cx="5389529" cy="5170575"/>
          </a:xfrm>
        </p:spPr>
        <p:txBody>
          <a:bodyPr/>
          <a:lstStyle>
            <a:lvl1pPr marL="50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cs-CZ"/>
          </a:p>
        </p:txBody>
      </p:sp>
      <p:sp>
        <p:nvSpPr>
          <p:cNvPr id="5" name="Zástupný text 15">
            <a:extLst>
              <a:ext uri="{FF2B5EF4-FFF2-40B4-BE49-F238E27FC236}">
                <a16:creationId xmlns:a16="http://schemas.microsoft.com/office/drawing/2014/main" id="{1BD2FD5D-C604-A0ED-3CA4-2867FE0533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>
            <a:noAutofit/>
          </a:bodyPr>
          <a:lstStyle>
            <a:lvl1pPr marL="50800" indent="0">
              <a:lnSpc>
                <a:spcPct val="100000"/>
              </a:lnSpc>
              <a:buFontTx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lnSpc>
                <a:spcPct val="100000"/>
              </a:lnSpc>
              <a:buFontTx/>
              <a:buNone/>
              <a:defRPr sz="1400" baseline="0"/>
            </a:lvl2pPr>
            <a:lvl3pPr marL="1219200" indent="0">
              <a:lnSpc>
                <a:spcPct val="100000"/>
              </a:lnSpc>
              <a:buFontTx/>
              <a:buNone/>
              <a:defRPr sz="1400" baseline="0"/>
            </a:lvl3pPr>
            <a:lvl4pPr marL="1828800" indent="0">
              <a:lnSpc>
                <a:spcPct val="100000"/>
              </a:lnSpc>
              <a:buFontTx/>
              <a:buNone/>
              <a:defRPr sz="1400" baseline="0"/>
            </a:lvl4pPr>
            <a:lvl5pPr marL="2438400" indent="0">
              <a:lnSpc>
                <a:spcPct val="100000"/>
              </a:lnSpc>
              <a:buFontTx/>
              <a:buNone/>
              <a:defRPr sz="1400" baseline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40722837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00ACBF-D632-4FAC-A9E6-6732826B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48F8D35-B720-45A5-97B1-915C1CA7A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obsah 13">
            <a:extLst>
              <a:ext uri="{FF2B5EF4-FFF2-40B4-BE49-F238E27FC236}">
                <a16:creationId xmlns:a16="http://schemas.microsoft.com/office/drawing/2014/main" id="{03816CB7-02ED-4564-8007-E5482A089C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562096" y="4347280"/>
            <a:ext cx="5389529" cy="5170575"/>
          </a:xfrm>
        </p:spPr>
        <p:txBody>
          <a:bodyPr>
            <a:normAutofit/>
          </a:bodyPr>
          <a:lstStyle>
            <a:lvl1pPr marL="50800" indent="0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cs-CZ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B5A4CDD8-F284-4CA2-8516-39B2DA2A45B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6500" y="4198142"/>
            <a:ext cx="10092199" cy="5319713"/>
          </a:xfrm>
        </p:spPr>
        <p:txBody>
          <a:bodyPr>
            <a:normAutofit/>
          </a:bodyPr>
          <a:lstStyle>
            <a:lvl1pPr marL="50800" marR="0" indent="0" algn="l" defTabSz="2438338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1000"/>
              <a:buFontTx/>
              <a:buNone/>
              <a:tabLst/>
              <a:defRPr sz="2800" baseline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text 15">
            <a:extLst>
              <a:ext uri="{FF2B5EF4-FFF2-40B4-BE49-F238E27FC236}">
                <a16:creationId xmlns:a16="http://schemas.microsoft.com/office/drawing/2014/main" id="{9CB33EA5-7F83-0800-F6E3-EFDC2A0D21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>
            <a:noAutofit/>
          </a:bodyPr>
          <a:lstStyle>
            <a:lvl1pPr marL="50800" indent="0">
              <a:lnSpc>
                <a:spcPct val="100000"/>
              </a:lnSpc>
              <a:buFontTx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lnSpc>
                <a:spcPct val="100000"/>
              </a:lnSpc>
              <a:buFontTx/>
              <a:buNone/>
              <a:defRPr sz="1400" baseline="0"/>
            </a:lvl2pPr>
            <a:lvl3pPr marL="1219200" indent="0">
              <a:lnSpc>
                <a:spcPct val="100000"/>
              </a:lnSpc>
              <a:buFontTx/>
              <a:buNone/>
              <a:defRPr sz="1400" baseline="0"/>
            </a:lvl3pPr>
            <a:lvl4pPr marL="1828800" indent="0">
              <a:lnSpc>
                <a:spcPct val="100000"/>
              </a:lnSpc>
              <a:buFontTx/>
              <a:buNone/>
              <a:defRPr sz="1400" baseline="0"/>
            </a:lvl4pPr>
            <a:lvl5pPr marL="2438400" indent="0">
              <a:lnSpc>
                <a:spcPct val="100000"/>
              </a:lnSpc>
              <a:buFontTx/>
              <a:buNone/>
              <a:defRPr sz="1400" baseline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24904403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00ACBF-D632-4FAC-A9E6-6732826B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48F8D35-B720-45A5-97B1-915C1CA7A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obsah 13">
            <a:extLst>
              <a:ext uri="{FF2B5EF4-FFF2-40B4-BE49-F238E27FC236}">
                <a16:creationId xmlns:a16="http://schemas.microsoft.com/office/drawing/2014/main" id="{03816CB7-02ED-4564-8007-E5482A089C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06500" y="4272712"/>
            <a:ext cx="5389529" cy="5170575"/>
          </a:xfrm>
        </p:spPr>
        <p:txBody>
          <a:bodyPr/>
          <a:lstStyle>
            <a:lvl1pPr marL="50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cs-CZ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B5A4CDD8-F284-4CA2-8516-39B2DA2A45B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9152" y="4198142"/>
            <a:ext cx="10092199" cy="5319713"/>
          </a:xfrm>
        </p:spPr>
        <p:txBody>
          <a:bodyPr>
            <a:normAutofit/>
          </a:bodyPr>
          <a:lstStyle>
            <a:lvl1pPr marL="50800" marR="0" indent="0" algn="l" defTabSz="2438338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1000"/>
              <a:buFontTx/>
              <a:buNone/>
              <a:tabLst/>
              <a:defRPr sz="2800" baseline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text 15">
            <a:extLst>
              <a:ext uri="{FF2B5EF4-FFF2-40B4-BE49-F238E27FC236}">
                <a16:creationId xmlns:a16="http://schemas.microsoft.com/office/drawing/2014/main" id="{8CF51721-A42D-5B49-F44B-55C35F1D50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>
            <a:noAutofit/>
          </a:bodyPr>
          <a:lstStyle>
            <a:lvl1pPr marL="50800" indent="0">
              <a:lnSpc>
                <a:spcPct val="100000"/>
              </a:lnSpc>
              <a:buFontTx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lnSpc>
                <a:spcPct val="100000"/>
              </a:lnSpc>
              <a:buFontTx/>
              <a:buNone/>
              <a:defRPr sz="1400" baseline="0"/>
            </a:lvl2pPr>
            <a:lvl3pPr marL="1219200" indent="0">
              <a:lnSpc>
                <a:spcPct val="100000"/>
              </a:lnSpc>
              <a:buFontTx/>
              <a:buNone/>
              <a:defRPr sz="1400" baseline="0"/>
            </a:lvl3pPr>
            <a:lvl4pPr marL="1828800" indent="0">
              <a:lnSpc>
                <a:spcPct val="100000"/>
              </a:lnSpc>
              <a:buFontTx/>
              <a:buNone/>
              <a:defRPr sz="1400" baseline="0"/>
            </a:lvl4pPr>
            <a:lvl5pPr marL="2438400" indent="0">
              <a:lnSpc>
                <a:spcPct val="100000"/>
              </a:lnSpc>
              <a:buFontTx/>
              <a:buNone/>
              <a:defRPr sz="1400" baseline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0961522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9F99CD-A4DC-462E-8165-664DCCD8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F2A753EC-7A23-4664-AB38-BAC3DBE2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" name="Zástupný text 15">
            <a:extLst>
              <a:ext uri="{FF2B5EF4-FFF2-40B4-BE49-F238E27FC236}">
                <a16:creationId xmlns:a16="http://schemas.microsoft.com/office/drawing/2014/main" id="{D7449A82-A32F-E8C5-A1D3-4E7DB9E038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>
            <a:noAutofit/>
          </a:bodyPr>
          <a:lstStyle>
            <a:lvl1pPr marL="50800" indent="0">
              <a:lnSpc>
                <a:spcPct val="100000"/>
              </a:lnSpc>
              <a:buFontTx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lnSpc>
                <a:spcPct val="100000"/>
              </a:lnSpc>
              <a:buFontTx/>
              <a:buNone/>
              <a:defRPr sz="1400" baseline="0"/>
            </a:lvl2pPr>
            <a:lvl3pPr marL="1219200" indent="0">
              <a:lnSpc>
                <a:spcPct val="100000"/>
              </a:lnSpc>
              <a:buFontTx/>
              <a:buNone/>
              <a:defRPr sz="1400" baseline="0"/>
            </a:lvl3pPr>
            <a:lvl4pPr marL="1828800" indent="0">
              <a:lnSpc>
                <a:spcPct val="100000"/>
              </a:lnSpc>
              <a:buFontTx/>
              <a:buNone/>
              <a:defRPr sz="1400" baseline="0"/>
            </a:lvl4pPr>
            <a:lvl5pPr marL="2438400" indent="0">
              <a:lnSpc>
                <a:spcPct val="100000"/>
              </a:lnSpc>
              <a:buFontTx/>
              <a:buNone/>
              <a:defRPr sz="1400" baseline="0"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16965662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ázev snímku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cs-CZ"/>
              <a:t>Název snímku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439AEE6-9148-4C87-B69E-B562EF3B9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5011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6" name="Číslo snímku">
            <a:extLst>
              <a:ext uri="{FF2B5EF4-FFF2-40B4-BE49-F238E27FC236}">
                <a16:creationId xmlns:a16="http://schemas.microsoft.com/office/drawing/2014/main" id="{46DD3E82-CC39-40D1-A3E4-20F49D29AE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2714985" y="12419417"/>
            <a:ext cx="599524" cy="5180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kumimoji="0" sz="2700" b="0" i="0" u="none" strike="noStrike" cap="none" spc="0" normalizeH="0" baseline="0">
                <a:ln>
                  <a:noFill/>
                </a:ln>
                <a:solidFill>
                  <a:srgbClr val="D22D0F"/>
                </a:solidFill>
                <a:effectLst/>
                <a:uFillTx/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fld id="{86CB4B4D-7CA3-9044-876B-883B54F8677D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17" name="Seskupit">
            <a:extLst>
              <a:ext uri="{FF2B5EF4-FFF2-40B4-BE49-F238E27FC236}">
                <a16:creationId xmlns:a16="http://schemas.microsoft.com/office/drawing/2014/main" id="{26CC8A9C-FFB0-4A08-A5BE-70E53E921751}"/>
              </a:ext>
            </a:extLst>
          </p:cNvPr>
          <p:cNvGrpSpPr/>
          <p:nvPr userDrawn="1"/>
        </p:nvGrpSpPr>
        <p:grpSpPr>
          <a:xfrm>
            <a:off x="20821459" y="12359239"/>
            <a:ext cx="2757575" cy="629455"/>
            <a:chOff x="0" y="-1"/>
            <a:chExt cx="2757574" cy="629453"/>
          </a:xfrm>
        </p:grpSpPr>
        <p:sp>
          <p:nvSpPr>
            <p:cNvPr id="19" name="SPACE">
              <a:extLst>
                <a:ext uri="{FF2B5EF4-FFF2-40B4-BE49-F238E27FC236}">
                  <a16:creationId xmlns:a16="http://schemas.microsoft.com/office/drawing/2014/main" id="{E6B3587E-C233-49BE-B86E-1374E9C364E5}"/>
                </a:ext>
              </a:extLst>
            </p:cNvPr>
            <p:cNvSpPr txBox="1"/>
            <p:nvPr/>
          </p:nvSpPr>
          <p:spPr>
            <a:xfrm>
              <a:off x="0" y="-1"/>
              <a:ext cx="626549" cy="292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 Medium"/>
                </a:defRPr>
              </a:lvl1pPr>
            </a:lstStyle>
            <a:p>
              <a:r>
                <a:t>SPACE</a:t>
              </a:r>
            </a:p>
          </p:txBody>
        </p:sp>
        <p:sp>
          <p:nvSpPr>
            <p:cNvPr id="20" name="Čára">
              <a:extLst>
                <a:ext uri="{FF2B5EF4-FFF2-40B4-BE49-F238E27FC236}">
                  <a16:creationId xmlns:a16="http://schemas.microsoft.com/office/drawing/2014/main" id="{71A39524-78E3-406F-9F79-0DB791618233}"/>
                </a:ext>
              </a:extLst>
            </p:cNvPr>
            <p:cNvSpPr/>
            <p:nvPr/>
          </p:nvSpPr>
          <p:spPr>
            <a:xfrm flipV="1">
              <a:off x="49891" y="9428"/>
              <a:ext cx="1" cy="620024"/>
            </a:xfrm>
            <a:prstGeom prst="line">
              <a:avLst/>
            </a:prstGeom>
            <a:noFill/>
            <a:ln w="25400" cap="flat">
              <a:solidFill>
                <a:srgbClr val="4A4A4D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1" name="SPACE">
              <a:extLst>
                <a:ext uri="{FF2B5EF4-FFF2-40B4-BE49-F238E27FC236}">
                  <a16:creationId xmlns:a16="http://schemas.microsoft.com/office/drawing/2014/main" id="{0AB3C3B7-6333-4A76-92C0-399AC94CEDDA}"/>
                </a:ext>
              </a:extLst>
            </p:cNvPr>
            <p:cNvSpPr txBox="1"/>
            <p:nvPr/>
          </p:nvSpPr>
          <p:spPr>
            <a:xfrm>
              <a:off x="2131024" y="-1"/>
              <a:ext cx="626550" cy="292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 Medium"/>
                </a:defRPr>
              </a:lvl1pPr>
            </a:lstStyle>
            <a:p>
              <a:r>
                <a:t>SPACE</a:t>
              </a:r>
            </a:p>
          </p:txBody>
        </p:sp>
        <p:sp>
          <p:nvSpPr>
            <p:cNvPr id="22" name="Čára">
              <a:extLst>
                <a:ext uri="{FF2B5EF4-FFF2-40B4-BE49-F238E27FC236}">
                  <a16:creationId xmlns:a16="http://schemas.microsoft.com/office/drawing/2014/main" id="{E26816E2-04F2-4288-9662-55FAAC770DCD}"/>
                </a:ext>
              </a:extLst>
            </p:cNvPr>
            <p:cNvSpPr/>
            <p:nvPr/>
          </p:nvSpPr>
          <p:spPr>
            <a:xfrm flipV="1">
              <a:off x="2673121" y="9428"/>
              <a:ext cx="1" cy="620024"/>
            </a:xfrm>
            <a:prstGeom prst="line">
              <a:avLst/>
            </a:prstGeom>
            <a:noFill/>
            <a:ln w="12700" cap="flat">
              <a:solidFill>
                <a:srgbClr val="4A4A4D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80" r:id="rId3"/>
    <p:sldLayoutId id="2147483682" r:id="rId4"/>
    <p:sldLayoutId id="2147483683" r:id="rId5"/>
    <p:sldLayoutId id="2147483684" r:id="rId6"/>
  </p:sldLayoutIdLst>
  <p:transition spd="med"/>
  <p:hf hdr="0" ftr="0" dt="0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all" spc="-170" baseline="0">
          <a:solidFill>
            <a:srgbClr val="D22D0F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736600" marR="0" indent="-685800" algn="l" defTabSz="2438338" rtl="0" eaLnBrk="1" fontAlgn="auto" latinLnBrk="0" hangingPunct="0">
        <a:lnSpc>
          <a:spcPct val="150000"/>
        </a:lnSpc>
        <a:spcBef>
          <a:spcPts val="0"/>
        </a:spcBef>
        <a:spcAft>
          <a:spcPts val="0"/>
        </a:spcAft>
        <a:buClrTx/>
        <a:buSzPct val="81000"/>
        <a:buFontTx/>
        <a:buBlip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</a:buBlip>
        <a:tabLst/>
        <a:defRPr sz="4600" b="0" i="0" u="none" strike="noStrike" cap="none" spc="0" baseline="0">
          <a:solidFill>
            <a:srgbClr val="4A4A4D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Inter Regular"/>
        </a:defRPr>
      </a:lvl1pPr>
      <a:lvl2pPr marL="1219200" marR="0" indent="-609600" algn="l" defTabSz="2438338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81000"/>
        <a:buFontTx/>
        <a:buBlip>
          <a:blip r:embed="rId10"/>
        </a:buBlip>
        <a:tabLst/>
        <a:defRPr lang="cs-CZ" sz="4600" b="0" i="0" u="none" strike="noStrike" cap="none" spc="0" baseline="0" dirty="0" smtClean="0">
          <a:solidFill>
            <a:srgbClr val="4A4A4D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Inter Regular"/>
        </a:defRPr>
      </a:lvl2pPr>
      <a:lvl3pPr marL="1828800" marR="0" indent="-609600" algn="l" defTabSz="2438338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81000"/>
        <a:buFontTx/>
        <a:buBlip>
          <a:blip r:embed="rId10"/>
        </a:buBlip>
        <a:tabLst/>
        <a:defRPr sz="4600" b="0" i="0" u="none" strike="noStrike" cap="none" spc="0" baseline="0">
          <a:solidFill>
            <a:srgbClr val="4A4A4D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Neue"/>
        </a:defRPr>
      </a:lvl3pPr>
      <a:lvl4pPr marL="2438400" marR="0" indent="-609600" algn="l" defTabSz="2438338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81000"/>
        <a:buFontTx/>
        <a:buBlip>
          <a:blip r:embed="rId10"/>
        </a:buBlip>
        <a:tabLst/>
        <a:defRPr sz="4600" b="0" i="0" u="none" strike="noStrike" cap="none" spc="0" baseline="0">
          <a:solidFill>
            <a:srgbClr val="4A4A4D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Neue"/>
        </a:defRPr>
      </a:lvl4pPr>
      <a:lvl5pPr marL="3048000" marR="0" indent="-609600" algn="l" defTabSz="2438338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81000"/>
        <a:buFontTx/>
        <a:buBlip>
          <a:blip r:embed="rId10"/>
        </a:buBlip>
        <a:tabLst/>
        <a:defRPr sz="4600" b="0" i="0" u="none" strike="noStrike" cap="none" spc="0" baseline="0">
          <a:solidFill>
            <a:srgbClr val="4A4A4D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B10B40-FB3F-4ACC-86D3-076319B5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VÝZVA: Kdo nedorazí na mamografický screening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E8BD4F-8AB4-4796-94C8-AA0EA9585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Zpracoval: Ing. Antonín Hlavinka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18A176C-F5C8-4A48-859E-5C4B7CD8DC3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76400" y="10760770"/>
            <a:ext cx="21031200" cy="1527868"/>
          </a:xfrm>
        </p:spPr>
        <p:txBody>
          <a:bodyPr/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16.10.2026</a:t>
            </a:r>
          </a:p>
        </p:txBody>
      </p:sp>
      <p:sp>
        <p:nvSpPr>
          <p:cNvPr id="15" name="Zástupný text 3">
            <a:extLst>
              <a:ext uri="{FF2B5EF4-FFF2-40B4-BE49-F238E27FC236}">
                <a16:creationId xmlns:a16="http://schemas.microsoft.com/office/drawing/2014/main" id="{8CA38311-4263-455E-8E27-4C5E027C25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86599" y="12414660"/>
            <a:ext cx="1808301" cy="1133475"/>
          </a:xfrm>
        </p:spPr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253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F028CD-A21C-4DC1-8BD5-C98E87A9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Proč se tím zabýváme?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80EA90D-8D07-4DE1-B1A4-46A7B62D0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cs-CZ" sz="2700" b="0" i="0" u="none" strike="noStrike" kern="0" cap="none" spc="0" normalizeH="0" baseline="0" noProof="0" smtClean="0">
                <a:ln>
                  <a:noFill/>
                </a:ln>
                <a:solidFill>
                  <a:srgbClr val="D22D0F"/>
                </a:solidFill>
                <a:effectLst/>
                <a:uLnTx/>
                <a:uFillTx/>
                <a:latin typeface="Inter Bold"/>
                <a:sym typeface="Inter Bold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700" b="0" i="0" u="none" strike="noStrike" kern="0" cap="none" spc="0" normalizeH="0" baseline="0" noProof="0" dirty="0">
              <a:ln>
                <a:noFill/>
              </a:ln>
              <a:solidFill>
                <a:srgbClr val="D22D0F"/>
              </a:solidFill>
              <a:effectLst/>
              <a:uLnTx/>
              <a:uFillTx/>
              <a:latin typeface="Inter Bold"/>
              <a:sym typeface="Inter Bold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2C22CE8-A8F4-48C8-BBFE-74A5A1BBA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6501" y="3121714"/>
            <a:ext cx="21970999" cy="9081370"/>
          </a:xfrm>
        </p:spPr>
        <p:txBody>
          <a:bodyPr/>
          <a:lstStyle/>
          <a:p>
            <a:r>
              <a:rPr lang="cs-CZ" sz="4800" dirty="0"/>
              <a:t>včasný záchyt rakoviny prsu významně zvyšuje šanci na úspěšnou léčbu</a:t>
            </a:r>
          </a:p>
          <a:p>
            <a:r>
              <a:rPr lang="cs-CZ" sz="4800" dirty="0"/>
              <a:t>každá neabsolvovaná preventivní prohlídka může znamenat pozdější záchyt onemocnění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8D9813-0B2C-2DCE-5C0D-172633DB9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cs-CZ" dirty="0" err="1">
                <a:latin typeface="Arial" panose="020B0604020202020204" pitchFamily="34" charset="0"/>
                <a:cs typeface="Arial" panose="020B0604020202020204" pitchFamily="34" charset="0"/>
              </a:rPr>
              <a:t>Rakathon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B0305EDF-88B1-4662-8B2F-607E4167A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720" y="7044267"/>
            <a:ext cx="15722560" cy="37567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3807928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8845B-1BE8-B3A8-76F8-7D362D3A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49CAE5-76D9-E906-66BE-5010D107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V čem je problém?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D1939D3-82C7-0CDD-896B-50C64A086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3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9C6978C-FD06-F98D-374A-34FCA31F02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10000"/>
          </a:bodyPr>
          <a:lstStyle/>
          <a:p>
            <a:pPr marL="50800" indent="0">
              <a:buNone/>
            </a:pPr>
            <a:r>
              <a:rPr lang="cs-CZ" b="1"/>
              <a:t>Dnes dostávají podobnou komunikaci klientky s velmi rozdílnou pravděpodobností účasti.</a:t>
            </a:r>
            <a:endParaRPr lang="cs-CZ"/>
          </a:p>
          <a:p>
            <a:r>
              <a:rPr lang="cs-CZ"/>
              <a:t>Některým stačí standardní pozvání. </a:t>
            </a:r>
          </a:p>
          <a:p>
            <a:r>
              <a:rPr lang="cs-CZ"/>
              <a:t>Jiné potřebují připomenutí. </a:t>
            </a:r>
          </a:p>
          <a:p>
            <a:r>
              <a:rPr lang="cs-CZ"/>
              <a:t>U některých může být potřeba aktivnější navigace nebo zapojení ordinace. </a:t>
            </a:r>
          </a:p>
          <a:p>
            <a:r>
              <a:rPr lang="cs-CZ"/>
              <a:t>Roli může hrát předchozí preventivní chování, využívání zdravotní péče, region či dostupnost screeningu. </a:t>
            </a:r>
          </a:p>
          <a:p>
            <a:r>
              <a:rPr lang="cs-CZ"/>
              <a:t>Samotná historická data ale neříkají, </a:t>
            </a:r>
            <a:r>
              <a:rPr lang="cs-CZ" b="1"/>
              <a:t>proč</a:t>
            </a:r>
            <a:r>
              <a:rPr lang="cs-CZ"/>
              <a:t> konkrétní klientka nepřišla. </a:t>
            </a:r>
          </a:p>
          <a:p>
            <a:r>
              <a:rPr lang="cs-CZ"/>
              <a:t>Bez následného experimentu také nelze říct, zda konkrétní intervence účast skutečně zvýšila.</a:t>
            </a:r>
          </a:p>
          <a:p>
            <a:pPr marL="50800" indent="0">
              <a:buNone/>
            </a:pPr>
            <a:r>
              <a:rPr lang="cs-CZ"/>
              <a:t> </a:t>
            </a:r>
          </a:p>
          <a:p>
            <a:pPr marL="50800" indent="0">
              <a:buNone/>
            </a:pPr>
            <a:r>
              <a:rPr lang="cs-CZ" b="1"/>
              <a:t>Důležité:</a:t>
            </a:r>
            <a:r>
              <a:rPr lang="cs-CZ"/>
              <a:t> Neřešíme „no-show“ na již objednaný termín. Řešíme, zda adresně oslovená klientka screening v definovaném období po oslovení absolvuje. </a:t>
            </a:r>
          </a:p>
          <a:p>
            <a:pPr lvl="2"/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871E22E-08C1-F029-0D83-CFBBB1CBAB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5549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F028CD-A21C-4DC1-8BD5-C98E87A9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Co nám říkají data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80EA90D-8D07-4DE1-B1A4-46A7B62D0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4</a:t>
            </a:fld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2C22CE8-A8F4-48C8-BBFE-74A5A1BBA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cs-CZ" sz="6600" b="1" dirty="0">
                <a:solidFill>
                  <a:srgbClr val="D22D0F"/>
                </a:solidFill>
                <a:latin typeface="Arial"/>
                <a:ea typeface="+mn-ea"/>
                <a:cs typeface="+mn-cs"/>
                <a:sym typeface="Helvetica Neue"/>
              </a:rPr>
              <a:t>  292 176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8D9813-0B2C-2DCE-5C0D-172633DB9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cs-CZ" dirty="0" err="1">
                <a:latin typeface="Arial" panose="020B0604020202020204" pitchFamily="34" charset="0"/>
                <a:cs typeface="Arial" panose="020B0604020202020204" pitchFamily="34" charset="0"/>
              </a:rPr>
              <a:t>Rakathon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  <p:sp>
        <p:nvSpPr>
          <p:cNvPr id="6" name="Chevron 21">
            <a:extLst>
              <a:ext uri="{FF2B5EF4-FFF2-40B4-BE49-F238E27FC236}">
                <a16:creationId xmlns:a16="http://schemas.microsoft.com/office/drawing/2014/main" id="{AB259C53-35F2-4513-BEC8-94D42D3362A3}"/>
              </a:ext>
            </a:extLst>
          </p:cNvPr>
          <p:cNvSpPr/>
          <p:nvPr/>
        </p:nvSpPr>
        <p:spPr>
          <a:xfrm>
            <a:off x="5240263" y="3299020"/>
            <a:ext cx="292608" cy="548640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9D7B22E7-E4A2-415A-B8D7-E35977038F97}"/>
              </a:ext>
            </a:extLst>
          </p:cNvPr>
          <p:cNvSpPr/>
          <p:nvPr/>
        </p:nvSpPr>
        <p:spPr>
          <a:xfrm>
            <a:off x="5962770" y="2864680"/>
            <a:ext cx="124584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3600" dirty="0">
                <a:solidFill>
                  <a:srgbClr val="4A4A4D"/>
                </a:solidFill>
              </a:rPr>
              <a:t>Pozvánek na mamografický screening v roce 2024</a:t>
            </a:r>
            <a:r>
              <a:rPr lang="cs-CZ" sz="3600" dirty="0"/>
              <a:t> </a:t>
            </a:r>
            <a:endParaRPr sz="3600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9587D693-4427-4890-BE73-60AF5D0B7B2D}"/>
              </a:ext>
            </a:extLst>
          </p:cNvPr>
          <p:cNvSpPr txBox="1"/>
          <p:nvPr/>
        </p:nvSpPr>
        <p:spPr>
          <a:xfrm>
            <a:off x="1767322" y="6735018"/>
            <a:ext cx="3765549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6600" b="1" dirty="0">
                <a:solidFill>
                  <a:srgbClr val="D22D0F"/>
                </a:solidFill>
                <a:latin typeface="Arial"/>
              </a:rPr>
              <a:t>18,9 %</a:t>
            </a:r>
          </a:p>
        </p:txBody>
      </p:sp>
      <p:sp>
        <p:nvSpPr>
          <p:cNvPr id="9" name="Chevron 21">
            <a:extLst>
              <a:ext uri="{FF2B5EF4-FFF2-40B4-BE49-F238E27FC236}">
                <a16:creationId xmlns:a16="http://schemas.microsoft.com/office/drawing/2014/main" id="{8E865E8A-BFAE-4751-AF60-6A60072E9CBF}"/>
              </a:ext>
            </a:extLst>
          </p:cNvPr>
          <p:cNvSpPr/>
          <p:nvPr/>
        </p:nvSpPr>
        <p:spPr>
          <a:xfrm>
            <a:off x="5280077" y="5199054"/>
            <a:ext cx="292608" cy="548640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65DB9F3B-01E3-4CD5-B3DB-09462577B71A}"/>
              </a:ext>
            </a:extLst>
          </p:cNvPr>
          <p:cNvSpPr/>
          <p:nvPr/>
        </p:nvSpPr>
        <p:spPr>
          <a:xfrm>
            <a:off x="5962770" y="6624670"/>
            <a:ext cx="12458460" cy="1417320"/>
          </a:xfrm>
          <a:prstGeom prst="roundRect">
            <a:avLst>
              <a:gd name="adj" fmla="val 6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3600" dirty="0">
                <a:solidFill>
                  <a:srgbClr val="4A4A4D"/>
                </a:solidFill>
              </a:rPr>
              <a:t>Celková účast po adresném zvaní v roce 2024</a:t>
            </a:r>
            <a:endParaRPr sz="3600" dirty="0">
              <a:solidFill>
                <a:srgbClr val="4A4A4D"/>
              </a:solidFill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D4FF275E-9E4D-4469-A6D4-E621CABC0EB2}"/>
              </a:ext>
            </a:extLst>
          </p:cNvPr>
          <p:cNvSpPr txBox="1"/>
          <p:nvPr/>
        </p:nvSpPr>
        <p:spPr>
          <a:xfrm>
            <a:off x="1825778" y="4916678"/>
            <a:ext cx="3356027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cs-CZ" sz="6600" b="1" dirty="0">
                <a:solidFill>
                  <a:srgbClr val="D22D0F"/>
                </a:solidFill>
                <a:latin typeface="Arial"/>
              </a:rPr>
              <a:t>44,5 %</a:t>
            </a:r>
          </a:p>
        </p:txBody>
      </p:sp>
      <p:sp>
        <p:nvSpPr>
          <p:cNvPr id="14" name="Chevron 21">
            <a:extLst>
              <a:ext uri="{FF2B5EF4-FFF2-40B4-BE49-F238E27FC236}">
                <a16:creationId xmlns:a16="http://schemas.microsoft.com/office/drawing/2014/main" id="{5C302A17-E71C-4979-A39F-A11A5C4A7E3B}"/>
              </a:ext>
            </a:extLst>
          </p:cNvPr>
          <p:cNvSpPr/>
          <p:nvPr/>
        </p:nvSpPr>
        <p:spPr>
          <a:xfrm>
            <a:off x="5386567" y="7022628"/>
            <a:ext cx="292608" cy="548640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BF1D1933-82F6-4B0B-8030-D53BE2771165}"/>
              </a:ext>
            </a:extLst>
          </p:cNvPr>
          <p:cNvSpPr/>
          <p:nvPr/>
        </p:nvSpPr>
        <p:spPr>
          <a:xfrm>
            <a:off x="5962770" y="4751183"/>
            <a:ext cx="12458460" cy="1417320"/>
          </a:xfrm>
          <a:prstGeom prst="roundRect">
            <a:avLst>
              <a:gd name="adj" fmla="val 6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3600" dirty="0">
                <a:solidFill>
                  <a:srgbClr val="4A4A4D"/>
                </a:solidFill>
              </a:rPr>
              <a:t>Účast u klientek oslovených poprvé v roce 2024</a:t>
            </a:r>
            <a:endParaRPr sz="3600" dirty="0">
              <a:solidFill>
                <a:srgbClr val="4A4A4D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A11F73C7-8E9E-497E-BD26-43F94100D8F4}"/>
              </a:ext>
            </a:extLst>
          </p:cNvPr>
          <p:cNvSpPr txBox="1"/>
          <p:nvPr/>
        </p:nvSpPr>
        <p:spPr>
          <a:xfrm>
            <a:off x="2050898" y="8539214"/>
            <a:ext cx="3189365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6600" b="1" dirty="0">
                <a:solidFill>
                  <a:srgbClr val="D22D0F"/>
                </a:solidFill>
                <a:latin typeface="Arial"/>
              </a:rPr>
              <a:t>3,2 %</a:t>
            </a:r>
          </a:p>
        </p:txBody>
      </p:sp>
      <p:sp>
        <p:nvSpPr>
          <p:cNvPr id="17" name="Chevron 21">
            <a:extLst>
              <a:ext uri="{FF2B5EF4-FFF2-40B4-BE49-F238E27FC236}">
                <a16:creationId xmlns:a16="http://schemas.microsoft.com/office/drawing/2014/main" id="{9F9963BE-E1B8-4BEC-AFE4-C5ED2E0E33C5}"/>
              </a:ext>
            </a:extLst>
          </p:cNvPr>
          <p:cNvSpPr/>
          <p:nvPr/>
        </p:nvSpPr>
        <p:spPr>
          <a:xfrm>
            <a:off x="5280077" y="8783855"/>
            <a:ext cx="292608" cy="548640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32">
            <a:extLst>
              <a:ext uri="{FF2B5EF4-FFF2-40B4-BE49-F238E27FC236}">
                <a16:creationId xmlns:a16="http://schemas.microsoft.com/office/drawing/2014/main" id="{924A2510-B3A5-4D68-88B9-77EAA449F38C}"/>
              </a:ext>
            </a:extLst>
          </p:cNvPr>
          <p:cNvSpPr/>
          <p:nvPr/>
        </p:nvSpPr>
        <p:spPr>
          <a:xfrm>
            <a:off x="5962770" y="8291543"/>
            <a:ext cx="12458460" cy="1417320"/>
          </a:xfrm>
          <a:prstGeom prst="roundRect">
            <a:avLst>
              <a:gd name="adj" fmla="val 6000"/>
            </a:avLst>
          </a:prstGeom>
          <a:solidFill>
            <a:srgbClr val="D22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02E008D0-B181-4190-AD42-86C063AD53AB}"/>
              </a:ext>
            </a:extLst>
          </p:cNvPr>
          <p:cNvSpPr txBox="1"/>
          <p:nvPr/>
        </p:nvSpPr>
        <p:spPr>
          <a:xfrm>
            <a:off x="6819900" y="8671908"/>
            <a:ext cx="1095375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3600" dirty="0">
                <a:solidFill>
                  <a:schemeClr val="bg1"/>
                </a:solidFill>
              </a:rPr>
              <a:t>Účast u klientek oslovených opakovaně po mnoho let </a:t>
            </a:r>
            <a:endParaRPr kumimoji="0" lang="cs-CZ" sz="3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CDE57F9-C05D-489F-9353-A172B6EB6C2D}"/>
              </a:ext>
            </a:extLst>
          </p:cNvPr>
          <p:cNvSpPr txBox="1"/>
          <p:nvPr/>
        </p:nvSpPr>
        <p:spPr>
          <a:xfrm>
            <a:off x="1186416" y="10103841"/>
            <a:ext cx="19116622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0800" algn="l">
              <a:lnSpc>
                <a:spcPct val="150000"/>
              </a:lnSpc>
              <a:buSzPct val="81000"/>
            </a:pPr>
            <a:r>
              <a:rPr lang="cs-CZ" sz="4000" b="1" dirty="0">
                <a:solidFill>
                  <a:srgbClr val="D22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 nám data naznačují?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B969817A-3430-48DA-B3EE-2A5F40F386EC}"/>
              </a:ext>
            </a:extLst>
          </p:cNvPr>
          <p:cNvSpPr/>
          <p:nvPr/>
        </p:nvSpPr>
        <p:spPr>
          <a:xfrm>
            <a:off x="1186416" y="11148373"/>
            <a:ext cx="17234814" cy="1418774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cs-CZ" sz="3600" dirty="0">
              <a:solidFill>
                <a:srgbClr val="4A4A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cs-CZ" sz="3200" dirty="0">
                <a:solidFill>
                  <a:srgbClr val="4A4A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Jednotný přístup nefunguje stejně dobře pro všechny klientky, a právě proto hledáme způsob jak rozlišit klientky s vysokým rizikem neúčasti</a:t>
            </a:r>
          </a:p>
          <a:p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493213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F028CD-A21C-4DC1-8BD5-C98E87A9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Kde získat informace 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80EA90D-8D07-4DE1-B1A4-46A7B62D0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5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2C22CE8-A8F4-48C8-BBFE-74A5A1BBA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cs-CZ" b="1" dirty="0"/>
              <a:t>Dokážeme poznat, kdo potřebuje víc než jen standardní pozvánku?</a:t>
            </a:r>
            <a:endParaRPr lang="cs-CZ" dirty="0"/>
          </a:p>
          <a:p>
            <a:r>
              <a:rPr lang="cs-CZ" dirty="0"/>
              <a:t>VZP adresně zve vybrané klientky na mamografický screening. Reakce na standardní pozvání je ale rozdílná – část žen screening absolvuje, část reaguje pozdě a část se jej nezúčastní vůbec.</a:t>
            </a:r>
          </a:p>
          <a:p>
            <a:pPr marL="50800" indent="0">
              <a:buNone/>
            </a:pPr>
            <a:endParaRPr lang="cs-CZ" dirty="0"/>
          </a:p>
          <a:p>
            <a:pPr marL="50800" indent="0">
              <a:buNone/>
            </a:pPr>
            <a:r>
              <a:rPr lang="cs-CZ" b="1" dirty="0"/>
              <a:t>Hlavní otázka výzvy:</a:t>
            </a:r>
            <a:endParaRPr lang="cs-CZ" dirty="0"/>
          </a:p>
          <a:p>
            <a:r>
              <a:rPr lang="cs-CZ" dirty="0"/>
              <a:t>Které adresně oslovené klientky VZP mají nejvyšší riziko, že screening neabsolvují, komu má být nabídnuta intenzivnější podpora a jak její skutečný efekt následně ověřit?</a:t>
            </a:r>
          </a:p>
          <a:p>
            <a:pPr lvl="2"/>
            <a:endParaRPr lang="en-US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8D9813-0B2C-2DCE-5C0D-172633DB9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44210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86E9918-5566-4254-B3A3-95CEA49F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Co je vaším úkolem?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FE1AE2C-8367-40FF-8EAB-4E01B140B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6</a:t>
            </a:fld>
            <a:endParaRPr lang="cs-CZ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0CCBB485-B817-376C-580F-1FD969C3B2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25268F5D-EABD-8C82-994A-9160CFAA7EA5}"/>
              </a:ext>
            </a:extLst>
          </p:cNvPr>
          <p:cNvSpPr txBox="1"/>
          <p:nvPr/>
        </p:nvSpPr>
        <p:spPr>
          <a:xfrm>
            <a:off x="12344399" y="8165627"/>
            <a:ext cx="8375073" cy="3785652"/>
          </a:xfrm>
          <a:prstGeom prst="rect">
            <a:avLst/>
          </a:prstGeom>
          <a:noFill/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cs-CZ" sz="4800" b="1"/>
              <a:t>04</a:t>
            </a:r>
          </a:p>
          <a:p>
            <a:r>
              <a:rPr lang="cs-CZ" sz="4800" b="1"/>
              <a:t>JAK OVĚŘIT</a:t>
            </a:r>
          </a:p>
          <a:p>
            <a:r>
              <a:rPr lang="cs-CZ" sz="4800" b="1"/>
              <a:t>Změřte efekt</a:t>
            </a:r>
            <a:br>
              <a:rPr lang="cs-CZ" sz="4800"/>
            </a:br>
            <a:r>
              <a:rPr lang="cs-CZ" sz="4800"/>
              <a:t>Zvýšila intervence skutečně účast na screeningu?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D05D078-8CE5-A91E-86FF-31EA47A37354}"/>
              </a:ext>
            </a:extLst>
          </p:cNvPr>
          <p:cNvSpPr txBox="1"/>
          <p:nvPr/>
        </p:nvSpPr>
        <p:spPr>
          <a:xfrm>
            <a:off x="1523999" y="3290455"/>
            <a:ext cx="8375073" cy="3785652"/>
          </a:xfrm>
          <a:prstGeom prst="rect">
            <a:avLst/>
          </a:prstGeom>
          <a:noFill/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cs-CZ" sz="4800" b="1"/>
              <a:t>01</a:t>
            </a:r>
            <a:endParaRPr lang="cs-CZ" sz="4800"/>
          </a:p>
          <a:p>
            <a:pPr>
              <a:buNone/>
            </a:pPr>
            <a:r>
              <a:rPr lang="cs-CZ" sz="4800" b="1"/>
              <a:t>KDO</a:t>
            </a:r>
          </a:p>
          <a:p>
            <a:pPr>
              <a:buNone/>
            </a:pPr>
            <a:r>
              <a:rPr lang="cs-CZ" sz="4800" b="1"/>
              <a:t>Predikujte riziko</a:t>
            </a:r>
            <a:br>
              <a:rPr lang="cs-CZ" sz="4800"/>
            </a:br>
            <a:r>
              <a:rPr lang="cs-CZ" sz="4800"/>
              <a:t>Které klientky mají nejvyšší pravděpodobnost neúčasti?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D76B6632-EC35-C93C-D363-1FF35B486388}"/>
              </a:ext>
            </a:extLst>
          </p:cNvPr>
          <p:cNvSpPr txBox="1"/>
          <p:nvPr/>
        </p:nvSpPr>
        <p:spPr>
          <a:xfrm>
            <a:off x="1523999" y="8035636"/>
            <a:ext cx="8375073" cy="4524315"/>
          </a:xfrm>
          <a:prstGeom prst="rect">
            <a:avLst/>
          </a:prstGeom>
          <a:noFill/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cs-CZ" sz="4800" b="1"/>
              <a:t>03</a:t>
            </a:r>
          </a:p>
          <a:p>
            <a:r>
              <a:rPr lang="cs-CZ" sz="4800" b="1"/>
              <a:t>CO</a:t>
            </a:r>
          </a:p>
          <a:p>
            <a:r>
              <a:rPr lang="cs-CZ" sz="4800" b="1"/>
              <a:t>Navrhněte podporu</a:t>
            </a:r>
            <a:br>
              <a:rPr lang="cs-CZ" sz="4800"/>
            </a:br>
            <a:r>
              <a:rPr lang="cs-CZ" sz="4800"/>
              <a:t>Jakou konkrétní intervenci nabídnout jednotlivým segmentům?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85202A6-AE42-F31F-5D96-0E7136CB37F5}"/>
              </a:ext>
            </a:extLst>
          </p:cNvPr>
          <p:cNvSpPr txBox="1"/>
          <p:nvPr/>
        </p:nvSpPr>
        <p:spPr>
          <a:xfrm>
            <a:off x="12344400" y="3442855"/>
            <a:ext cx="8375073" cy="3785652"/>
          </a:xfrm>
          <a:prstGeom prst="rect">
            <a:avLst/>
          </a:prstGeom>
          <a:noFill/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cs-CZ" sz="4800" b="1"/>
              <a:t>02</a:t>
            </a:r>
          </a:p>
          <a:p>
            <a:r>
              <a:rPr lang="cs-CZ" sz="4800" b="1"/>
              <a:t>PROČ</a:t>
            </a:r>
          </a:p>
          <a:p>
            <a:r>
              <a:rPr lang="cs-CZ" sz="4800" b="1"/>
              <a:t>Pochopte souvislosti</a:t>
            </a:r>
            <a:br>
              <a:rPr lang="cs-CZ" sz="4800"/>
            </a:br>
            <a:r>
              <a:rPr lang="cs-CZ" sz="4800"/>
              <a:t>Jaké faktory s neúčastí souvisejí a jaké segmenty z nich vznikají?</a:t>
            </a:r>
          </a:p>
        </p:txBody>
      </p:sp>
    </p:spTree>
    <p:extLst>
      <p:ext uri="{BB962C8B-B14F-4D97-AF65-F5344CB8AC3E}">
        <p14:creationId xmlns:p14="http://schemas.microsoft.com/office/powerpoint/2010/main" val="320785343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3E5F-F975-F12E-8F48-42314DF1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2F8EDC-D498-2DE0-955B-8EA57A9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latin typeface="Arial"/>
                <a:cs typeface="Arial"/>
              </a:rPr>
              <a:t>S ČÍM MŮŽETE </a:t>
            </a:r>
            <a:r>
              <a:rPr lang="cs-CZ" err="1">
                <a:latin typeface="Arial"/>
                <a:cs typeface="Arial"/>
              </a:rPr>
              <a:t>PRACOVAt</a:t>
            </a:r>
            <a:r>
              <a:rPr lang="cs-CZ">
                <a:latin typeface="Arial"/>
                <a:cs typeface="Arial"/>
              </a:rPr>
              <a:t>?</a:t>
            </a:r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7F2CDB9-6C75-B9EA-E60D-FD6DF3F17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7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3F2A0F9-CA90-F41F-B2E4-32356ACFAC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0800" indent="0">
              <a:buNone/>
            </a:pPr>
            <a:r>
              <a:rPr lang="cs-CZ" sz="4300" b="1">
                <a:latin typeface="Arial"/>
                <a:cs typeface="Arial"/>
              </a:rPr>
              <a:t>V rámci výzvy můžete propojit několik vrstev řešení:</a:t>
            </a:r>
            <a:endParaRPr lang="en-US" sz="3900">
              <a:cs typeface="Arial"/>
            </a:endParaRPr>
          </a:p>
          <a:p>
            <a:pPr>
              <a:buNone/>
            </a:pPr>
            <a:r>
              <a:rPr lang="cs-CZ" sz="4300" b="1">
                <a:latin typeface="Arial"/>
                <a:cs typeface="Arial"/>
              </a:rPr>
              <a:t> Predikce rizika neúčasti</a:t>
            </a:r>
            <a:br>
              <a:rPr lang="cs-CZ" sz="2600">
                <a:latin typeface="Arial"/>
                <a:cs typeface="Arial"/>
              </a:rPr>
            </a:br>
            <a:r>
              <a:rPr lang="cs-CZ" sz="3900">
                <a:latin typeface="Arial"/>
                <a:cs typeface="Arial"/>
              </a:rPr>
              <a:t> → odhad pravděpodobnosti, že oslovená klientka screening neabsolvuje</a:t>
            </a:r>
            <a:endParaRPr lang="en-US" sz="3900">
              <a:latin typeface="Arial"/>
              <a:cs typeface="Arial"/>
            </a:endParaRPr>
          </a:p>
          <a:p>
            <a:pPr>
              <a:buNone/>
            </a:pPr>
            <a:r>
              <a:rPr lang="cs-CZ" sz="4300" b="1">
                <a:latin typeface="Arial"/>
                <a:cs typeface="Arial"/>
              </a:rPr>
              <a:t>Rizikové faktory a segmentace</a:t>
            </a:r>
            <a:br>
              <a:rPr lang="cs-CZ" sz="2600">
                <a:latin typeface="Arial"/>
                <a:cs typeface="Arial"/>
              </a:rPr>
            </a:br>
            <a:r>
              <a:rPr lang="cs-CZ" sz="3900"/>
              <a:t> → identifikace faktorů souvisejících s neúčastí a vytvoření srozumitelných segmentů</a:t>
            </a:r>
            <a:endParaRPr lang="en-US" sz="3900"/>
          </a:p>
          <a:p>
            <a:pPr>
              <a:buNone/>
            </a:pPr>
            <a:r>
              <a:rPr lang="cs-CZ" sz="4300" b="1">
                <a:latin typeface="Arial"/>
                <a:cs typeface="Arial"/>
              </a:rPr>
              <a:t>Cílená intervence</a:t>
            </a:r>
            <a:br>
              <a:rPr lang="cs-CZ" sz="2600">
                <a:latin typeface="Arial"/>
                <a:cs typeface="Arial"/>
              </a:rPr>
            </a:br>
            <a:r>
              <a:rPr lang="cs-CZ" sz="3900"/>
              <a:t> → návrh konkrétní podpory pro vybrané segmenty</a:t>
            </a:r>
            <a:endParaRPr lang="en-US" sz="3900"/>
          </a:p>
          <a:p>
            <a:pPr>
              <a:buNone/>
            </a:pPr>
            <a:r>
              <a:rPr lang="cs-CZ" sz="4300" b="1">
                <a:latin typeface="Arial"/>
                <a:cs typeface="Arial"/>
              </a:rPr>
              <a:t>Ověření efektu</a:t>
            </a:r>
            <a:br>
              <a:rPr lang="cs-CZ" sz="2600">
                <a:latin typeface="Arial"/>
                <a:cs typeface="Arial"/>
              </a:rPr>
            </a:br>
            <a:r>
              <a:rPr lang="cs-CZ" sz="3900"/>
              <a:t> → návrh experimentu, který ukáže, zda intervence účast skutečně zvýšila</a:t>
            </a:r>
            <a:endParaRPr lang="en-US" sz="3900"/>
          </a:p>
          <a:p>
            <a:pPr marL="50800" indent="0">
              <a:buNone/>
            </a:pPr>
            <a:endParaRPr lang="cs-CZ"/>
          </a:p>
          <a:p>
            <a:pPr lvl="2"/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EE8A32C-DA72-5F66-7CCD-D5C4A7E8C6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7746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F15B-2A21-5A5C-3591-FACA1A85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FA665-7395-05FA-76D6-7A608226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latin typeface="Arial"/>
                <a:cs typeface="Arial"/>
              </a:rPr>
              <a:t>JAK MŮŽE VYPADAT CÍLENÁ PODPORA?</a:t>
            </a:r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090B077-8655-CFAC-1F0F-07129C3BA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8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07163C4-E0C5-8D91-3054-31669D4057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cs-CZ" b="1">
                <a:latin typeface="Arial"/>
                <a:cs typeface="Arial"/>
              </a:rPr>
              <a:t>Pravidelná </a:t>
            </a:r>
            <a:r>
              <a:rPr lang="cs-CZ" b="1" err="1">
                <a:latin typeface="Arial"/>
                <a:cs typeface="Arial"/>
              </a:rPr>
              <a:t>preventistka</a:t>
            </a:r>
            <a:r>
              <a:rPr lang="cs-CZ" b="1">
                <a:latin typeface="Arial"/>
                <a:cs typeface="Arial"/>
              </a:rPr>
              <a:t>, nyní v prodlení</a:t>
            </a:r>
            <a:endParaRPr lang="en-US"/>
          </a:p>
          <a:p>
            <a:pPr marL="50800" indent="0">
              <a:buNone/>
            </a:pPr>
            <a:r>
              <a:rPr lang="cs-CZ">
                <a:latin typeface="Arial"/>
                <a:cs typeface="Arial"/>
              </a:rPr>
              <a:t>→ jednoduché připomenutí + konkrétní objednací krok</a:t>
            </a:r>
            <a:endParaRPr lang="cs-CZ"/>
          </a:p>
          <a:p>
            <a:r>
              <a:rPr lang="cs-CZ" b="1">
                <a:latin typeface="Arial"/>
                <a:cs typeface="Arial"/>
              </a:rPr>
              <a:t>Nízký kontakt se zdravotnictvím</a:t>
            </a:r>
            <a:endParaRPr lang="cs-CZ"/>
          </a:p>
          <a:p>
            <a:pPr marL="50800" indent="0">
              <a:buNone/>
            </a:pPr>
            <a:r>
              <a:rPr lang="cs-CZ">
                <a:latin typeface="Arial"/>
                <a:cs typeface="Arial"/>
              </a:rPr>
              <a:t>→ vícekanálové oslovení + informace, že screening je důležitý i bez příznaků</a:t>
            </a:r>
            <a:endParaRPr lang="cs-CZ"/>
          </a:p>
          <a:p>
            <a:r>
              <a:rPr lang="cs-CZ" b="1">
                <a:latin typeface="Arial"/>
                <a:cs typeface="Arial"/>
              </a:rPr>
              <a:t>V péči, ale bez prevence</a:t>
            </a:r>
            <a:endParaRPr lang="cs-CZ"/>
          </a:p>
          <a:p>
            <a:pPr marL="50800" indent="0">
              <a:buNone/>
            </a:pPr>
            <a:r>
              <a:rPr lang="cs-CZ">
                <a:latin typeface="Arial"/>
                <a:cs typeface="Arial"/>
              </a:rPr>
              <a:t>→ zapojení praktika nebo gynekologa</a:t>
            </a:r>
            <a:endParaRPr lang="cs-CZ"/>
          </a:p>
          <a:p>
            <a:r>
              <a:rPr lang="cs-CZ" b="1">
                <a:latin typeface="Arial"/>
                <a:cs typeface="Arial"/>
              </a:rPr>
              <a:t>Opakovaně nereagující</a:t>
            </a:r>
            <a:endParaRPr lang="cs-CZ"/>
          </a:p>
          <a:p>
            <a:pPr marL="50800" indent="0">
              <a:buNone/>
            </a:pPr>
            <a:r>
              <a:rPr lang="cs-CZ">
                <a:latin typeface="Arial"/>
                <a:cs typeface="Arial"/>
              </a:rPr>
              <a:t>→ jiný kanál / telefonická navigace / pomoc s objednáním</a:t>
            </a:r>
            <a:endParaRPr lang="cs-CZ"/>
          </a:p>
          <a:p>
            <a:r>
              <a:rPr lang="cs-CZ" b="1">
                <a:latin typeface="Arial"/>
                <a:cs typeface="Arial"/>
              </a:rPr>
              <a:t>Regionální bariéra</a:t>
            </a:r>
            <a:endParaRPr lang="cs-CZ"/>
          </a:p>
          <a:p>
            <a:pPr marL="50800" indent="0">
              <a:buNone/>
            </a:pPr>
            <a:r>
              <a:rPr lang="cs-CZ">
                <a:latin typeface="Arial"/>
                <a:cs typeface="Arial"/>
              </a:rPr>
              <a:t>→ navigace na dostupná pracoviště</a:t>
            </a:r>
            <a:endParaRPr lang="cs-CZ"/>
          </a:p>
          <a:p>
            <a:r>
              <a:rPr lang="cs-CZ">
                <a:latin typeface="Arial"/>
                <a:cs typeface="Arial"/>
              </a:rPr>
              <a:t>Jsou to </a:t>
            </a:r>
            <a:r>
              <a:rPr lang="cs-CZ" b="1">
                <a:latin typeface="Arial"/>
                <a:cs typeface="Arial"/>
              </a:rPr>
              <a:t>výchozí hypotézy, které mají týmy ověřit v datech</a:t>
            </a:r>
            <a:r>
              <a:rPr lang="cs-CZ">
                <a:latin typeface="Arial"/>
                <a:cs typeface="Arial"/>
              </a:rPr>
              <a:t>, nikoli hotové segmenty.</a:t>
            </a:r>
          </a:p>
          <a:p>
            <a:endParaRPr lang="cs-CZ"/>
          </a:p>
          <a:p>
            <a:pPr marL="1219200" lvl="2" indent="0">
              <a:buNone/>
            </a:pP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AD41470-CB7C-F5CF-3E1B-856533DFF4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173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0A7D-ADCE-7E1A-2F12-87E66CFC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06DFBC-6C93-5922-C81C-637D8BF1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057564"/>
            <a:ext cx="21971000" cy="1433163"/>
          </a:xfrm>
        </p:spPr>
        <p:txBody>
          <a:bodyPr>
            <a:normAutofit/>
          </a:bodyPr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Co </a:t>
            </a:r>
            <a:r>
              <a:rPr lang="cs-CZ"/>
              <a:t>je realistické zvládnout během </a:t>
            </a:r>
            <a:r>
              <a:rPr lang="cs-CZ" err="1"/>
              <a:t>rakathonu</a:t>
            </a:r>
            <a:r>
              <a:rPr lang="cs-CZ"/>
              <a:t>?</a:t>
            </a:r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53952D5-E50E-5115-1509-6FEB9CFC9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9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1A93B1-3EEB-4956-8290-0AE03A0F3A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2">
              <a:buNone/>
            </a:pPr>
            <a:r>
              <a:rPr lang="en-US" sz="4300" b="1">
                <a:latin typeface="Arial"/>
                <a:cs typeface="Arial"/>
                <a:sym typeface="Inter Regular"/>
              </a:rPr>
              <a:t>Očekávaný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výstup</a:t>
            </a:r>
            <a:r>
              <a:rPr lang="en-US" sz="4300">
                <a:latin typeface="Arial"/>
                <a:cs typeface="Arial"/>
                <a:sym typeface="Inter Regular"/>
              </a:rPr>
              <a:t>: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 b="1">
                <a:latin typeface="Arial"/>
                <a:cs typeface="Arial"/>
                <a:sym typeface="Inter Regular"/>
              </a:rPr>
              <a:t> • </a:t>
            </a:r>
            <a:r>
              <a:rPr lang="en-US" sz="4300">
                <a:latin typeface="Arial"/>
                <a:cs typeface="Arial"/>
                <a:sym typeface="Inter Regular"/>
              </a:rPr>
              <a:t>model / </a:t>
            </a:r>
            <a:r>
              <a:rPr lang="en-US" sz="4300" err="1">
                <a:latin typeface="Arial"/>
                <a:cs typeface="Arial"/>
                <a:sym typeface="Inter Regular"/>
              </a:rPr>
              <a:t>skóre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rizika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neúčasti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na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screeningu</a:t>
            </a:r>
            <a:r>
              <a:rPr lang="en-US" sz="4300">
                <a:latin typeface="Arial"/>
                <a:cs typeface="Arial"/>
                <a:sym typeface="Inter Regular"/>
              </a:rPr>
              <a:t>,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>
                <a:latin typeface="Arial"/>
                <a:cs typeface="Arial"/>
                <a:sym typeface="Inter Regular"/>
              </a:rPr>
              <a:t> • </a:t>
            </a:r>
            <a:r>
              <a:rPr lang="en-US" sz="4300" err="1">
                <a:latin typeface="Arial"/>
                <a:cs typeface="Arial"/>
                <a:sym typeface="Inter Regular"/>
              </a:rPr>
              <a:t>identifikace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hlavních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faktorů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souvisejících</a:t>
            </a:r>
            <a:r>
              <a:rPr lang="en-US" sz="4300">
                <a:latin typeface="Arial"/>
                <a:cs typeface="Arial"/>
                <a:sym typeface="Inter Regular"/>
              </a:rPr>
              <a:t> s </a:t>
            </a:r>
            <a:r>
              <a:rPr lang="en-US" sz="4300" err="1">
                <a:latin typeface="Arial"/>
                <a:cs typeface="Arial"/>
                <a:sym typeface="Inter Regular"/>
              </a:rPr>
              <a:t>neúčastí</a:t>
            </a:r>
            <a:r>
              <a:rPr lang="en-US" sz="4300">
                <a:latin typeface="Arial"/>
                <a:cs typeface="Arial"/>
                <a:sym typeface="Inter Regular"/>
              </a:rPr>
              <a:t>,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>
                <a:latin typeface="Arial"/>
                <a:cs typeface="Arial"/>
                <a:sym typeface="Inter Regular"/>
              </a:rPr>
              <a:t> • </a:t>
            </a:r>
            <a:r>
              <a:rPr lang="en-US" sz="4300" err="1">
                <a:latin typeface="Arial"/>
                <a:cs typeface="Arial"/>
                <a:sym typeface="Inter Regular"/>
              </a:rPr>
              <a:t>několik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srozumitelných</a:t>
            </a:r>
            <a:r>
              <a:rPr lang="en-US" sz="4300">
                <a:latin typeface="Arial"/>
                <a:cs typeface="Arial"/>
                <a:sym typeface="Inter Regular"/>
              </a:rPr>
              <a:t> a </a:t>
            </a:r>
            <a:r>
              <a:rPr lang="en-US" sz="4300" err="1">
                <a:latin typeface="Arial"/>
                <a:cs typeface="Arial"/>
                <a:sym typeface="Inter Regular"/>
              </a:rPr>
              <a:t>prakticky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využitelných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segmentů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klientek</a:t>
            </a:r>
            <a:r>
              <a:rPr lang="en-US" sz="4300">
                <a:latin typeface="Arial"/>
                <a:cs typeface="Arial"/>
                <a:sym typeface="Inter Regular"/>
              </a:rPr>
              <a:t>,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>
                <a:latin typeface="Arial"/>
                <a:cs typeface="Arial"/>
                <a:sym typeface="Inter Regular"/>
              </a:rPr>
              <a:t> • </a:t>
            </a:r>
            <a:r>
              <a:rPr lang="en-US" sz="4300" err="1">
                <a:latin typeface="Arial"/>
                <a:cs typeface="Arial"/>
                <a:sym typeface="Inter Regular"/>
              </a:rPr>
              <a:t>návrh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konkrétních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intervencí</a:t>
            </a:r>
            <a:r>
              <a:rPr lang="en-US" sz="4300">
                <a:latin typeface="Arial"/>
                <a:cs typeface="Arial"/>
                <a:sym typeface="Inter Regular"/>
              </a:rPr>
              <a:t> pro </a:t>
            </a:r>
            <a:r>
              <a:rPr lang="en-US" sz="4300" err="1">
                <a:latin typeface="Arial"/>
                <a:cs typeface="Arial"/>
                <a:sym typeface="Inter Regular"/>
              </a:rPr>
              <a:t>vybrané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segmenty</a:t>
            </a:r>
            <a:r>
              <a:rPr lang="en-US" sz="4300">
                <a:latin typeface="Arial"/>
                <a:cs typeface="Arial"/>
                <a:sym typeface="Inter Regular"/>
              </a:rPr>
              <a:t>,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>
                <a:latin typeface="Arial"/>
                <a:cs typeface="Arial"/>
                <a:sym typeface="Inter Regular"/>
              </a:rPr>
              <a:t> • </a:t>
            </a:r>
            <a:r>
              <a:rPr lang="en-US" sz="4300" err="1">
                <a:latin typeface="Arial"/>
                <a:cs typeface="Arial"/>
                <a:sym typeface="Inter Regular"/>
              </a:rPr>
              <a:t>návrh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experimentu</a:t>
            </a:r>
            <a:r>
              <a:rPr lang="en-US" sz="4300">
                <a:latin typeface="Arial"/>
                <a:cs typeface="Arial"/>
                <a:sym typeface="Inter Regular"/>
              </a:rPr>
              <a:t> / A/B </a:t>
            </a:r>
            <a:r>
              <a:rPr lang="en-US" sz="4300" err="1">
                <a:latin typeface="Arial"/>
                <a:cs typeface="Arial"/>
                <a:sym typeface="Inter Regular"/>
              </a:rPr>
              <a:t>testu</a:t>
            </a:r>
            <a:r>
              <a:rPr lang="en-US" sz="4300">
                <a:latin typeface="Arial"/>
                <a:cs typeface="Arial"/>
                <a:sym typeface="Inter Regular"/>
              </a:rPr>
              <a:t> pro </a:t>
            </a:r>
            <a:r>
              <a:rPr lang="en-US" sz="4300" err="1">
                <a:latin typeface="Arial"/>
                <a:cs typeface="Arial"/>
                <a:sym typeface="Inter Regular"/>
              </a:rPr>
              <a:t>ověření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skutečného</a:t>
            </a: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r>
              <a:rPr lang="en-US" sz="4300" err="1">
                <a:latin typeface="Arial"/>
                <a:cs typeface="Arial"/>
                <a:sym typeface="Inter Regular"/>
              </a:rPr>
              <a:t>efektu</a:t>
            </a:r>
            <a:r>
              <a:rPr lang="en-US" sz="4300">
                <a:latin typeface="Arial"/>
                <a:cs typeface="Arial"/>
                <a:sym typeface="Inter Regular"/>
              </a:rPr>
              <a:t>.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>
                <a:latin typeface="Arial"/>
                <a:cs typeface="Arial"/>
                <a:sym typeface="Inter Regular"/>
              </a:rPr>
              <a:t> </a:t>
            </a:r>
            <a:br>
              <a:rPr lang="en-US" sz="4300">
                <a:latin typeface="Arial"/>
                <a:cs typeface="Arial"/>
                <a:sym typeface="Inter Regular"/>
              </a:rPr>
            </a:br>
            <a:r>
              <a:rPr lang="en-US" sz="4300" b="1" err="1">
                <a:latin typeface="Arial"/>
                <a:cs typeface="Arial"/>
                <a:sym typeface="Inter Regular"/>
              </a:rPr>
              <a:t>Cílem</a:t>
            </a:r>
            <a:r>
              <a:rPr lang="en-US" sz="4300" b="1">
                <a:latin typeface="Arial"/>
                <a:cs typeface="Arial"/>
                <a:sym typeface="Inter Regular"/>
              </a:rPr>
              <a:t>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není</a:t>
            </a:r>
            <a:r>
              <a:rPr lang="en-US" sz="4300" b="1">
                <a:latin typeface="Arial"/>
                <a:cs typeface="Arial"/>
                <a:sym typeface="Inter Regular"/>
              </a:rPr>
              <a:t>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jen</a:t>
            </a:r>
            <a:r>
              <a:rPr lang="en-US" sz="4300" b="1">
                <a:latin typeface="Arial"/>
                <a:cs typeface="Arial"/>
                <a:sym typeface="Inter Regular"/>
              </a:rPr>
              <a:t>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předpovědět</a:t>
            </a:r>
            <a:r>
              <a:rPr lang="en-US" sz="4300" b="1">
                <a:latin typeface="Arial"/>
                <a:cs typeface="Arial"/>
                <a:sym typeface="Inter Regular"/>
              </a:rPr>
              <a:t>,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kdo</a:t>
            </a:r>
            <a:r>
              <a:rPr lang="en-US" sz="4300" b="1">
                <a:latin typeface="Arial"/>
                <a:cs typeface="Arial"/>
                <a:sym typeface="Inter Regular"/>
              </a:rPr>
              <a:t>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nepřijde</a:t>
            </a:r>
            <a:r>
              <a:rPr lang="en-US" sz="4300" b="1">
                <a:latin typeface="Arial"/>
                <a:cs typeface="Arial"/>
                <a:sym typeface="Inter Regular"/>
              </a:rPr>
              <a:t>, ale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navrhnout</a:t>
            </a:r>
            <a:r>
              <a:rPr lang="en-US" sz="4300" b="1">
                <a:latin typeface="Arial"/>
                <a:cs typeface="Arial"/>
                <a:sym typeface="Inter Regular"/>
              </a:rPr>
              <a:t>, co s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tím</a:t>
            </a:r>
            <a:r>
              <a:rPr lang="en-US" sz="4300" b="1">
                <a:latin typeface="Arial"/>
                <a:cs typeface="Arial"/>
                <a:sym typeface="Inter Regular"/>
              </a:rPr>
              <a:t>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lze</a:t>
            </a:r>
            <a:r>
              <a:rPr lang="en-US" sz="4300" b="1">
                <a:latin typeface="Arial"/>
                <a:cs typeface="Arial"/>
                <a:sym typeface="Inter Regular"/>
              </a:rPr>
              <a:t>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dělat</a:t>
            </a:r>
            <a:r>
              <a:rPr lang="en-US" sz="4300" b="1">
                <a:latin typeface="Arial"/>
                <a:cs typeface="Arial"/>
                <a:sym typeface="Inter Regular"/>
              </a:rPr>
              <a:t> a jak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ověřit</a:t>
            </a:r>
            <a:r>
              <a:rPr lang="en-US" sz="4300" b="1">
                <a:latin typeface="Arial"/>
                <a:cs typeface="Arial"/>
                <a:sym typeface="Inter Regular"/>
              </a:rPr>
              <a:t>,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že</a:t>
            </a:r>
            <a:r>
              <a:rPr lang="en-US" sz="4300" b="1">
                <a:latin typeface="Arial"/>
                <a:cs typeface="Arial"/>
                <a:sym typeface="Inter Regular"/>
              </a:rPr>
              <a:t> to </a:t>
            </a:r>
            <a:r>
              <a:rPr lang="en-US" sz="4300" b="1" err="1">
                <a:latin typeface="Arial"/>
                <a:cs typeface="Arial"/>
                <a:sym typeface="Inter Regular"/>
              </a:rPr>
              <a:t>funguje</a:t>
            </a:r>
            <a:r>
              <a:rPr lang="en-US" sz="4300" b="1">
                <a:latin typeface="Arial"/>
                <a:cs typeface="Arial"/>
                <a:sym typeface="Inter Regular"/>
              </a:rPr>
              <a:t>.</a:t>
            </a:r>
          </a:p>
          <a:p>
            <a:pPr marL="1219200" lvl="2" indent="0">
              <a:buNone/>
            </a:pP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0BF6F01-B55F-B10E-2A1A-FC878C2888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14365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078E-EE46-9D39-380B-C612E870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1AF4A7-4BE7-06A7-EEC3-77EB3EE5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Jaký může mít řešení dopad?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D17D8AF-444F-A5D1-D16B-034E5FDC4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10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834F2D4-2DF6-2595-BD18-D28FBAE91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3900" b="1">
                <a:latin typeface="Arial"/>
                <a:cs typeface="Arial"/>
              </a:rPr>
              <a:t>LEPŠÍ CÍLENÍ KOMUNIKACE</a:t>
            </a:r>
            <a:br>
              <a:rPr lang="cs-CZ" sz="2400">
                <a:latin typeface="Arial"/>
                <a:cs typeface="Arial"/>
              </a:rPr>
            </a:br>
            <a:r>
              <a:rPr lang="cs-CZ" sz="4300">
                <a:latin typeface="Arial"/>
                <a:cs typeface="Arial"/>
                <a:sym typeface="Helvetica Neue"/>
              </a:rPr>
              <a:t> → intenzivnější podporu dostanou klientky, které ji skutečně potřebují</a:t>
            </a:r>
            <a:br>
              <a:rPr lang="cs-CZ" sz="2400">
                <a:latin typeface="Arial"/>
                <a:cs typeface="Arial"/>
              </a:rPr>
            </a:br>
            <a:r>
              <a:rPr lang="cs-CZ" sz="2400">
                <a:latin typeface="Arial"/>
                <a:cs typeface="Arial"/>
              </a:rPr>
              <a:t> </a:t>
            </a:r>
            <a:br>
              <a:rPr lang="cs-CZ" sz="2400">
                <a:latin typeface="Arial"/>
                <a:cs typeface="Arial"/>
              </a:rPr>
            </a:br>
            <a:r>
              <a:rPr lang="cs-CZ" sz="3900" b="1">
                <a:latin typeface="Arial"/>
                <a:cs typeface="Arial"/>
              </a:rPr>
              <a:t>EFEKTIVNĚJŠÍ VYUŽITÍ ZDROJŮ</a:t>
            </a:r>
            <a:br>
              <a:rPr lang="cs-CZ" sz="2400">
                <a:latin typeface="Arial"/>
                <a:cs typeface="Arial"/>
              </a:rPr>
            </a:br>
            <a:r>
              <a:rPr lang="cs-CZ" sz="4300">
                <a:latin typeface="Arial"/>
                <a:cs typeface="Arial"/>
              </a:rPr>
              <a:t> → náročnější intervence lze zaměřit na skupiny s vyšším rizikem neúčasti</a:t>
            </a:r>
            <a:br>
              <a:rPr lang="cs-CZ" sz="3900" b="1">
                <a:latin typeface="Arial"/>
                <a:cs typeface="Arial"/>
              </a:rPr>
            </a:br>
            <a:r>
              <a:rPr lang="cs-CZ" sz="3900" b="1">
                <a:latin typeface="Arial"/>
                <a:cs typeface="Arial"/>
              </a:rPr>
              <a:t>VYŠŠÍ ÚČAST NA SCREENINGU</a:t>
            </a:r>
            <a:br>
              <a:rPr lang="cs-CZ" sz="2400">
                <a:latin typeface="Arial"/>
                <a:cs typeface="Arial"/>
              </a:rPr>
            </a:br>
            <a:r>
              <a:rPr lang="cs-CZ" sz="4300">
                <a:latin typeface="Arial"/>
                <a:cs typeface="Arial"/>
              </a:rPr>
              <a:t> → cílem je dostat více oslovených klientek k preventivnímu vyšetření</a:t>
            </a:r>
            <a:br>
              <a:rPr lang="cs-CZ" sz="2400">
                <a:latin typeface="Arial"/>
                <a:cs typeface="Arial"/>
              </a:rPr>
            </a:br>
            <a:r>
              <a:rPr lang="cs-CZ" sz="2400">
                <a:latin typeface="Arial"/>
                <a:cs typeface="Arial"/>
              </a:rPr>
              <a:t> </a:t>
            </a:r>
            <a:br>
              <a:rPr lang="cs-CZ" sz="2400">
                <a:latin typeface="Arial"/>
                <a:cs typeface="Arial"/>
              </a:rPr>
            </a:br>
            <a:r>
              <a:rPr lang="cs-CZ" sz="3900" b="1">
                <a:latin typeface="Arial"/>
                <a:cs typeface="Arial"/>
              </a:rPr>
              <a:t>MĚŘITELNÝ EFEKT</a:t>
            </a:r>
            <a:br>
              <a:rPr lang="cs-CZ" sz="2400">
                <a:latin typeface="Arial"/>
                <a:cs typeface="Arial"/>
              </a:rPr>
            </a:br>
            <a:r>
              <a:rPr lang="cs-CZ" sz="4300">
                <a:latin typeface="Arial"/>
                <a:cs typeface="Arial"/>
              </a:rPr>
              <a:t> → experiment ukáže, které intervence skutečně fungují a pro koho</a:t>
            </a:r>
            <a:endParaRPr lang="en-US" sz="4300">
              <a:latin typeface="Arial"/>
              <a:cs typeface="Arial"/>
            </a:endParaRPr>
          </a:p>
          <a:p>
            <a:endParaRPr lang="cs-CZ"/>
          </a:p>
          <a:p>
            <a:pPr marL="1219200" lvl="2" indent="0">
              <a:buNone/>
            </a:pP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AEAAAB5-80BB-0D59-1ECF-991A8C548D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5548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A3F3-12D0-7890-D054-53472431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2C350F-70E1-C442-EE12-61A0996C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podklady a data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BB4757D-3283-BAC9-B2E0-6E189D10B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11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9659B07-DB96-8F93-CF6C-1C26F74CCE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pPr marL="50800" indent="0">
              <a:buNone/>
            </a:pPr>
            <a:r>
              <a:rPr lang="cs-CZ" b="1" dirty="0"/>
              <a:t>Pro práci na výzvě budete mít k dispozici:</a:t>
            </a:r>
            <a:endParaRPr lang="cs-CZ" dirty="0"/>
          </a:p>
          <a:p>
            <a:r>
              <a:rPr lang="cs-CZ" dirty="0" err="1"/>
              <a:t>dataset</a:t>
            </a:r>
            <a:r>
              <a:rPr lang="cs-CZ" dirty="0"/>
              <a:t> VZP pro danou výzvu (více než 1,3 milionu záznamů), </a:t>
            </a:r>
          </a:p>
          <a:p>
            <a:r>
              <a:rPr lang="cs-CZ" dirty="0"/>
              <a:t>popis dat a datový slovník, </a:t>
            </a:r>
          </a:p>
          <a:p>
            <a:r>
              <a:rPr lang="cs-CZ" dirty="0"/>
              <a:t>kompletní zadání a metodické podklady. </a:t>
            </a:r>
          </a:p>
          <a:p>
            <a:pPr marL="50800" indent="0">
              <a:buNone/>
            </a:pPr>
            <a:endParaRPr lang="cs-CZ" b="1" dirty="0"/>
          </a:p>
          <a:p>
            <a:pPr marL="50800" indent="0">
              <a:buNone/>
            </a:pPr>
            <a:endParaRPr lang="cs-CZ" b="1" dirty="0"/>
          </a:p>
          <a:p>
            <a:pPr marL="50800" indent="0">
              <a:buNone/>
            </a:pPr>
            <a:endParaRPr lang="cs-CZ" b="1" dirty="0"/>
          </a:p>
          <a:p>
            <a:pPr marL="50800" indent="0">
              <a:buNone/>
            </a:pPr>
            <a:r>
              <a:rPr lang="cs-CZ" b="1" dirty="0"/>
              <a:t>Data, zadání a další podklady najdete na jednom místě.</a:t>
            </a:r>
            <a:endParaRPr lang="cs-CZ" dirty="0"/>
          </a:p>
          <a:p>
            <a:r>
              <a:rPr lang="cs-CZ" b="1" dirty="0"/>
              <a:t>[QR KÓD]</a:t>
            </a:r>
            <a:br>
              <a:rPr lang="cs-CZ" dirty="0"/>
            </a:br>
            <a:r>
              <a:rPr lang="cs-CZ" b="1" dirty="0"/>
              <a:t>[krátký odkaz]</a:t>
            </a:r>
          </a:p>
          <a:p>
            <a:pPr marL="50800" indent="0">
              <a:buNone/>
            </a:pPr>
            <a:endParaRPr lang="cs-CZ" b="1" dirty="0"/>
          </a:p>
          <a:p>
            <a:r>
              <a:rPr lang="cs-CZ" b="1" dirty="0"/>
              <a:t>Máte otázku k zadání nebo datům?</a:t>
            </a:r>
            <a:br>
              <a:rPr lang="cs-CZ" dirty="0"/>
            </a:br>
            <a:r>
              <a:rPr lang="cs-CZ" dirty="0"/>
              <a:t>Kontaktní osoba za VZP: </a:t>
            </a:r>
            <a:r>
              <a:rPr lang="cs-CZ" b="1" dirty="0"/>
              <a:t>[jméno / kontakt doplnit]</a:t>
            </a:r>
            <a:endParaRPr lang="en-US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7EC1BEF-1523-A098-2066-C2D9B60224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2BDCEB4-A29B-497A-A15E-5588D077E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66" y="5516420"/>
            <a:ext cx="14389877" cy="22180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6504869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E6C609-58D6-7C95-72DD-CD891850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900" y="6141418"/>
            <a:ext cx="21971000" cy="1433163"/>
          </a:xfrm>
        </p:spPr>
        <p:txBody>
          <a:bodyPr/>
          <a:lstStyle/>
          <a:p>
            <a:r>
              <a:rPr lang="cs-CZ">
                <a:latin typeface="Arial" panose="020B0604020202020204" pitchFamily="34" charset="0"/>
                <a:cs typeface="Arial" panose="020B0604020202020204" pitchFamily="34" charset="0"/>
              </a:rPr>
              <a:t>Děkujeme za pozornost.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687114-1093-4F07-BB75-CEDF3BB13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cs-CZ" smtClean="0"/>
              <a:pPr/>
              <a:t>12</a:t>
            </a:fld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95AF807-D857-0BDE-B495-80C81DACCF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762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VZP barvy 22">
      <a:dk1>
        <a:srgbClr val="D22D0F"/>
      </a:dk1>
      <a:lt1>
        <a:srgbClr val="FFFFFF"/>
      </a:lt1>
      <a:dk2>
        <a:srgbClr val="BEBEBE"/>
      </a:dk2>
      <a:lt2>
        <a:srgbClr val="FFFFFF"/>
      </a:lt2>
      <a:accent1>
        <a:srgbClr val="78A3DD"/>
      </a:accent1>
      <a:accent2>
        <a:srgbClr val="E6CACF"/>
      </a:accent2>
      <a:accent3>
        <a:srgbClr val="B8DDC5"/>
      </a:accent3>
      <a:accent4>
        <a:srgbClr val="5A7AA6"/>
      </a:accent4>
      <a:accent5>
        <a:srgbClr val="A88D92"/>
      </a:accent5>
      <a:accent6>
        <a:srgbClr val="B47127"/>
      </a:accent6>
      <a:hlink>
        <a:srgbClr val="D22D0F"/>
      </a:hlink>
      <a:folHlink>
        <a:srgbClr val="4A4A4D"/>
      </a:folHlink>
    </a:clrScheme>
    <a:fontScheme name="VZP písma 22">
      <a:majorFont>
        <a:latin typeface="Inter Bold"/>
        <a:ea typeface="Helvetica Neue"/>
        <a:cs typeface="Helvetica Neue"/>
      </a:majorFont>
      <a:minorFont>
        <a:latin typeface="Inter Regul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 dirty="0" err="1" smtClean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75D0AD8268D44DABF3C13ADB7DB166" ma:contentTypeVersion="17" ma:contentTypeDescription="Create a new document." ma:contentTypeScope="" ma:versionID="fb2a44fb05d8553ec724ac9a87c2fed9">
  <xsd:schema xmlns:xsd="http://www.w3.org/2001/XMLSchema" xmlns:xs="http://www.w3.org/2001/XMLSchema" xmlns:p="http://schemas.microsoft.com/office/2006/metadata/properties" xmlns:ns2="cca5f199-64de-419a-a07f-a7c10254367c" xmlns:ns3="b80777b5-b9b2-430c-9550-7ae03817f067" targetNamespace="http://schemas.microsoft.com/office/2006/metadata/properties" ma:root="true" ma:fieldsID="0fe9d3dd8e7515d90ccec2eb537fd93e" ns2:_="" ns3:_="">
    <xsd:import namespace="cca5f199-64de-419a-a07f-a7c10254367c"/>
    <xsd:import namespace="b80777b5-b9b2-430c-9550-7ae03817f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Datu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a5f199-64de-419a-a07f-a7c102543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92e1bd4-ea8a-423d-b99d-8018e6531c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um" ma:index="24" nillable="true" ma:displayName="Datum" ma:format="DateTime" ma:internalName="Datu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0777b5-b9b2-430c-9550-7ae03817f06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0b6973-4c0a-46ea-87a3-7893643f6006}" ma:internalName="TaxCatchAll" ma:showField="CatchAllData" ma:web="b80777b5-b9b2-430c-9550-7ae03817f0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a5f199-64de-419a-a07f-a7c10254367c">
      <Terms xmlns="http://schemas.microsoft.com/office/infopath/2007/PartnerControls"/>
    </lcf76f155ced4ddcb4097134ff3c332f>
    <TaxCatchAll xmlns="b80777b5-b9b2-430c-9550-7ae03817f067" xsi:nil="true"/>
    <Datum xmlns="cca5f199-64de-419a-a07f-a7c10254367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A8C64C-5560-41C7-A979-A26153BB3753}">
  <ds:schemaRefs>
    <ds:schemaRef ds:uri="b80777b5-b9b2-430c-9550-7ae03817f067"/>
    <ds:schemaRef ds:uri="cca5f199-64de-419a-a07f-a7c1025436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389B26-1A18-4D82-98BD-3C8CDADA3C62}">
  <ds:schemaRefs>
    <ds:schemaRef ds:uri="189c7478-f36e-4d06-b026-5479ab3e2b44"/>
    <ds:schemaRef ds:uri="b5683710-b238-46c4-b171-6a83f19fd9cb"/>
    <ds:schemaRef ds:uri="b80777b5-b9b2-430c-9550-7ae03817f067"/>
    <ds:schemaRef ds:uri="cca5f199-64de-419a-a07f-a7c1025436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7BEA7DC-0E44-48AF-9BCA-1CB11FAC79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859</Words>
  <Application>Microsoft Office PowerPoint</Application>
  <PresentationFormat>Vlastní</PresentationFormat>
  <Paragraphs>96</Paragraphs>
  <Slides>12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Arial</vt:lpstr>
      <vt:lpstr>Helvetica Neue</vt:lpstr>
      <vt:lpstr>Inter</vt:lpstr>
      <vt:lpstr>Inter Bold</vt:lpstr>
      <vt:lpstr>Inter Regular</vt:lpstr>
      <vt:lpstr>21_BasicWhite</vt:lpstr>
      <vt:lpstr>VÝZVA: Kdo nedorazí na mamografický screening</vt:lpstr>
      <vt:lpstr>Proč se tím zabýváme?</vt:lpstr>
      <vt:lpstr>V čem je problém?</vt:lpstr>
      <vt:lpstr>Co nám říkají data</vt:lpstr>
      <vt:lpstr>Kde získat informace </vt:lpstr>
      <vt:lpstr>Co je vaším úkolem?</vt:lpstr>
      <vt:lpstr>S ČÍM MŮŽETE PRACOVAt?</vt:lpstr>
      <vt:lpstr>JAK MŮŽE VYPADAT CÍLENÁ PODPORA?</vt:lpstr>
      <vt:lpstr>Co je realistické zvládnout během rakathonu?</vt:lpstr>
      <vt:lpstr>Jaký může mít řešení dopad?</vt:lpstr>
      <vt:lpstr>podklady a data</vt:lpstr>
      <vt:lpstr>Děkujeme za pozornost.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Damovská Helena Ing. (VZP ČR Ústředí)</dc:creator>
  <cp:lastModifiedBy>Damovská Helena Ing. (VZP ČR Ústředí)</cp:lastModifiedBy>
  <cp:revision>8</cp:revision>
  <dcterms:modified xsi:type="dcterms:W3CDTF">2026-10-12T09:37:31Z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0x0101005675D0AD8268D44DABF3C13ADB7DB166</vt:lpwstr>
  </property>
  <property fmtid="{D5CDD505-2E9C-101B-9397-08002B2CF9AE}" pid="3" name="MediaServiceImageTags">
    <vt:lpwstr/>
  </property>
</Properties>
</file>